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msterdam Four" panose="020B0604020202020204" charset="0"/>
      <p:regular r:id="rId13"/>
    </p:embeddedFont>
    <p:embeddedFont>
      <p:font typeface="Anton" panose="020B0604020202020204" charset="0"/>
      <p:regular r:id="rId14"/>
    </p:embeddedFont>
    <p:embeddedFont>
      <p:font typeface="Archivo Black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nva Sans Bold" panose="020B0604020202020204" charset="0"/>
      <p:regular r:id="rId20"/>
    </p:embeddedFont>
    <p:embeddedFont>
      <p:font typeface="Caveat Bold" panose="020B0604020202020204" charset="0"/>
      <p:regular r:id="rId21"/>
    </p:embeddedFont>
    <p:embeddedFont>
      <p:font typeface="Fredoka" panose="020B0604020202020204" charset="0"/>
      <p:regular r:id="rId22"/>
    </p:embeddedFont>
    <p:embeddedFont>
      <p:font typeface="Gagalin" panose="020B0604020202020204" charset="0"/>
      <p:regular r:id="rId23"/>
    </p:embeddedFont>
    <p:embeddedFont>
      <p:font typeface="Glacial Indifference" panose="020B0604020202020204" charset="0"/>
      <p:regular r:id="rId24"/>
    </p:embeddedFont>
    <p:embeddedFont>
      <p:font typeface="HK Grotesk" panose="020B0604020202020204" charset="0"/>
      <p:regular r:id="rId25"/>
    </p:embeddedFont>
    <p:embeddedFont>
      <p:font typeface="Muli Heavy" panose="020B0604020202020204" charset="0"/>
      <p:regular r:id="rId26"/>
    </p:embeddedFont>
    <p:embeddedFont>
      <p:font typeface="Open Sans" panose="020B0604020202020204" charset="0"/>
      <p:regular r:id="rId27"/>
    </p:embeddedFont>
    <p:embeddedFont>
      <p:font typeface="Open Sauce" panose="020B0604020202020204" charset="0"/>
      <p:regular r:id="rId28"/>
    </p:embeddedFont>
    <p:embeddedFont>
      <p:font typeface="Quicksand Medium" panose="020B0604020202020204" charset="0"/>
      <p:regular r:id="rId29"/>
    </p:embeddedFont>
    <p:embeddedFont>
      <p:font typeface="Suranna" panose="020B0604020202020204" charset="0"/>
      <p:regular r:id="rId30"/>
    </p:embeddedFont>
    <p:embeddedFont>
      <p:font typeface="Varela Round" panose="020B0604020202020204" charset="-79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2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2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33164" y="8934831"/>
            <a:ext cx="1547025" cy="646938"/>
          </a:xfrm>
          <a:custGeom>
            <a:avLst/>
            <a:gdLst/>
            <a:ahLst/>
            <a:cxnLst/>
            <a:rect l="l" t="t" r="r" b="b"/>
            <a:pathLst>
              <a:path w="1547025" h="646938">
                <a:moveTo>
                  <a:pt x="0" y="0"/>
                </a:moveTo>
                <a:lnTo>
                  <a:pt x="1547025" y="0"/>
                </a:lnTo>
                <a:lnTo>
                  <a:pt x="1547025" y="646938"/>
                </a:lnTo>
                <a:lnTo>
                  <a:pt x="0" y="646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10000" y="5295900"/>
            <a:ext cx="31192128" cy="22769266"/>
          </a:xfrm>
          <a:custGeom>
            <a:avLst/>
            <a:gdLst/>
            <a:ahLst/>
            <a:cxnLst/>
            <a:rect l="l" t="t" r="r" b="b"/>
            <a:pathLst>
              <a:path w="31192128" h="22769266">
                <a:moveTo>
                  <a:pt x="0" y="0"/>
                </a:moveTo>
                <a:lnTo>
                  <a:pt x="31192128" y="0"/>
                </a:lnTo>
                <a:lnTo>
                  <a:pt x="31192128" y="22769266"/>
                </a:lnTo>
                <a:lnTo>
                  <a:pt x="0" y="22769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37131" y="3911010"/>
            <a:ext cx="792751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TALREJA HARSH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84068" y="535103"/>
            <a:ext cx="2664658" cy="52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4"/>
              </a:lnSpc>
            </a:pPr>
            <a:r>
              <a:rPr lang="en-US" sz="368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22-08-2026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7993" y="8570214"/>
            <a:ext cx="6535940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000" dirty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 practical guide to configuring RIPv2 across networks with different CIDR subnet blocks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56446" y="1510304"/>
            <a:ext cx="12576718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RIPv2 Different CIDR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B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60212" y="-248588"/>
            <a:ext cx="5879387" cy="6129123"/>
          </a:xfrm>
          <a:custGeom>
            <a:avLst/>
            <a:gdLst/>
            <a:ahLst/>
            <a:cxnLst/>
            <a:rect l="l" t="t" r="r" b="b"/>
            <a:pathLst>
              <a:path w="5879387" h="6129123">
                <a:moveTo>
                  <a:pt x="0" y="0"/>
                </a:moveTo>
                <a:lnTo>
                  <a:pt x="5879387" y="0"/>
                </a:lnTo>
                <a:lnTo>
                  <a:pt x="5879387" y="6129123"/>
                </a:lnTo>
                <a:lnTo>
                  <a:pt x="0" y="612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83" r="-998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97512" y="389436"/>
            <a:ext cx="6659306" cy="306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19"/>
              </a:lnSpc>
              <a:spcBef>
                <a:spcPct val="0"/>
              </a:spcBef>
            </a:pPr>
            <a:r>
              <a:rPr lang="en-US" sz="17942" b="1" dirty="0">
                <a:solidFill>
                  <a:srgbClr val="FF1ABF"/>
                </a:solidFill>
                <a:latin typeface="Caveat Bold"/>
                <a:ea typeface="Caveat Bold"/>
                <a:cs typeface="Caveat Bold"/>
                <a:sym typeface="Caveat Bold"/>
              </a:rPr>
              <a:t>About</a:t>
            </a:r>
          </a:p>
        </p:txBody>
      </p:sp>
      <p:sp>
        <p:nvSpPr>
          <p:cNvPr id="4" name="Freeform 4"/>
          <p:cNvSpPr/>
          <p:nvPr/>
        </p:nvSpPr>
        <p:spPr>
          <a:xfrm>
            <a:off x="5687386" y="-442514"/>
            <a:ext cx="5879387" cy="6828495"/>
          </a:xfrm>
          <a:custGeom>
            <a:avLst/>
            <a:gdLst/>
            <a:ahLst/>
            <a:cxnLst/>
            <a:rect l="l" t="t" r="r" b="b"/>
            <a:pathLst>
              <a:path w="5879387" h="6828495">
                <a:moveTo>
                  <a:pt x="0" y="0"/>
                </a:moveTo>
                <a:lnTo>
                  <a:pt x="5879387" y="0"/>
                </a:lnTo>
                <a:lnTo>
                  <a:pt x="5879387" y="6828494"/>
                </a:lnTo>
                <a:lnTo>
                  <a:pt x="0" y="68284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28" r="-1682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755644" y="389436"/>
            <a:ext cx="4999214" cy="3068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119"/>
              </a:lnSpc>
              <a:spcBef>
                <a:spcPct val="0"/>
              </a:spcBef>
            </a:pPr>
            <a:r>
              <a:rPr lang="en-US" sz="17942" b="1">
                <a:solidFill>
                  <a:srgbClr val="FF1ABF"/>
                </a:solidFill>
                <a:latin typeface="Caveat Bold"/>
                <a:ea typeface="Caveat Bold"/>
                <a:cs typeface="Caveat Bold"/>
                <a:sym typeface="Caveat Bold"/>
              </a:rPr>
              <a:t>RIPv2</a:t>
            </a:r>
          </a:p>
        </p:txBody>
      </p:sp>
      <p:sp>
        <p:nvSpPr>
          <p:cNvPr id="6" name="Freeform 6"/>
          <p:cNvSpPr/>
          <p:nvPr/>
        </p:nvSpPr>
        <p:spPr>
          <a:xfrm>
            <a:off x="575227" y="8957963"/>
            <a:ext cx="1452988" cy="607613"/>
          </a:xfrm>
          <a:custGeom>
            <a:avLst/>
            <a:gdLst/>
            <a:ahLst/>
            <a:cxnLst/>
            <a:rect l="l" t="t" r="r" b="b"/>
            <a:pathLst>
              <a:path w="1452988" h="607613">
                <a:moveTo>
                  <a:pt x="0" y="0"/>
                </a:moveTo>
                <a:lnTo>
                  <a:pt x="1452988" y="0"/>
                </a:lnTo>
                <a:lnTo>
                  <a:pt x="1452988" y="607613"/>
                </a:lnTo>
                <a:lnTo>
                  <a:pt x="0" y="60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10108" y="2348778"/>
            <a:ext cx="13245143" cy="341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FF1ABF"/>
                </a:solidFill>
                <a:latin typeface="Caveat Bold"/>
                <a:ea typeface="Caveat Bold"/>
                <a:cs typeface="Caveat Bold"/>
                <a:sym typeface="Caveat Bold"/>
              </a:rPr>
              <a:t>Fundamentals</a:t>
            </a:r>
          </a:p>
        </p:txBody>
      </p:sp>
      <p:sp>
        <p:nvSpPr>
          <p:cNvPr id="8" name="Freeform 8"/>
          <p:cNvSpPr/>
          <p:nvPr/>
        </p:nvSpPr>
        <p:spPr>
          <a:xfrm>
            <a:off x="13119641" y="5143500"/>
            <a:ext cx="5630127" cy="737035"/>
          </a:xfrm>
          <a:custGeom>
            <a:avLst/>
            <a:gdLst/>
            <a:ahLst/>
            <a:cxnLst/>
            <a:rect l="l" t="t" r="r" b="b"/>
            <a:pathLst>
              <a:path w="5630127" h="737035">
                <a:moveTo>
                  <a:pt x="0" y="0"/>
                </a:moveTo>
                <a:lnTo>
                  <a:pt x="5630127" y="0"/>
                </a:lnTo>
                <a:lnTo>
                  <a:pt x="5630127" y="737035"/>
                </a:lnTo>
                <a:lnTo>
                  <a:pt x="0" y="737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97512" y="6565178"/>
            <a:ext cx="3207994" cy="690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756" b="1" spc="27">
                <a:solidFill>
                  <a:srgbClr val="2946BF"/>
                </a:solidFill>
                <a:latin typeface="Muli Heavy"/>
                <a:ea typeface="Muli Heavy"/>
                <a:cs typeface="Muli Heavy"/>
                <a:sym typeface="Muli Heavy"/>
              </a:rPr>
              <a:t>Distance-Vector</a:t>
            </a:r>
          </a:p>
          <a:p>
            <a:pPr algn="l">
              <a:lnSpc>
                <a:spcPts val="2673"/>
              </a:lnSpc>
            </a:pPr>
            <a:endParaRPr lang="en-US" sz="2756" b="1" spc="27">
              <a:solidFill>
                <a:srgbClr val="2946BF"/>
              </a:solidFill>
              <a:latin typeface="Muli Heavy"/>
              <a:ea typeface="Muli Heavy"/>
              <a:cs typeface="Muli Heavy"/>
              <a:sym typeface="Muli Heav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97512" y="7118303"/>
            <a:ext cx="6367562" cy="113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sz="2499" b="1" spc="24">
                <a:solidFill>
                  <a:srgbClr val="2946BF"/>
                </a:solidFill>
                <a:latin typeface="Muli Heavy"/>
                <a:ea typeface="Muli Heavy"/>
                <a:cs typeface="Muli Heavy"/>
                <a:sym typeface="Muli Heavy"/>
              </a:rPr>
              <a:t>Uses hop count as the sole metric, with a maximum of 15 hops before a route is considered unreachable.</a:t>
            </a:r>
          </a:p>
          <a:p>
            <a:pPr algn="l">
              <a:lnSpc>
                <a:spcPts val="1746"/>
              </a:lnSpc>
            </a:pPr>
            <a:endParaRPr lang="en-US" sz="2499" b="1" spc="24">
              <a:solidFill>
                <a:srgbClr val="2946BF"/>
              </a:solidFill>
              <a:latin typeface="Muli Heavy"/>
              <a:ea typeface="Muli Heavy"/>
              <a:cs typeface="Muli Heavy"/>
              <a:sym typeface="Muli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041360" y="6597657"/>
            <a:ext cx="3207994" cy="625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4"/>
              </a:lnSpc>
            </a:pPr>
            <a:r>
              <a:rPr lang="en-US" sz="2489" b="1" spc="24">
                <a:solidFill>
                  <a:srgbClr val="2946BF"/>
                </a:solidFill>
                <a:latin typeface="Muli Heavy"/>
                <a:ea typeface="Muli Heavy"/>
                <a:cs typeface="Muli Heavy"/>
                <a:sym typeface="Muli Heavy"/>
              </a:rPr>
              <a:t>VLSM Support</a:t>
            </a:r>
          </a:p>
          <a:p>
            <a:pPr algn="ctr">
              <a:lnSpc>
                <a:spcPts val="2414"/>
              </a:lnSpc>
            </a:pPr>
            <a:endParaRPr lang="en-US" sz="2489" b="1" spc="24">
              <a:solidFill>
                <a:srgbClr val="2946BF"/>
              </a:solidFill>
              <a:latin typeface="Muli Heavy"/>
              <a:ea typeface="Muli Heavy"/>
              <a:cs typeface="Muli Heavy"/>
              <a:sym typeface="Muli Heavy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176005" y="7123806"/>
            <a:ext cx="5579638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4"/>
              </a:lnSpc>
            </a:pPr>
            <a:r>
              <a:rPr lang="en-US" sz="2499" b="1" spc="24">
                <a:solidFill>
                  <a:srgbClr val="2946BF"/>
                </a:solidFill>
                <a:latin typeface="Muli Heavy"/>
                <a:ea typeface="Muli Heavy"/>
                <a:cs typeface="Muli Heavy"/>
                <a:sym typeface="Muli Heavy"/>
              </a:rPr>
              <a:t>Supports CIDR notation and variable-length subnet masks — a major leap beyond RIPv1.</a:t>
            </a:r>
          </a:p>
          <a:p>
            <a:pPr algn="ctr">
              <a:lnSpc>
                <a:spcPts val="2424"/>
              </a:lnSpc>
            </a:pPr>
            <a:endParaRPr lang="en-US" sz="2499" b="1" spc="24">
              <a:solidFill>
                <a:srgbClr val="2946BF"/>
              </a:solidFill>
              <a:latin typeface="Muli Heavy"/>
              <a:ea typeface="Muli Heavy"/>
              <a:cs typeface="Muli Heavy"/>
              <a:sym typeface="Muli Heav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546864" y="6565178"/>
            <a:ext cx="3207994" cy="62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4"/>
              </a:lnSpc>
            </a:pPr>
            <a:r>
              <a:rPr lang="en-US" sz="2489" b="1" spc="24">
                <a:solidFill>
                  <a:srgbClr val="2946BF"/>
                </a:solidFill>
                <a:latin typeface="Muli Heavy"/>
                <a:ea typeface="Muli Heavy"/>
                <a:cs typeface="Muli Heavy"/>
                <a:sym typeface="Muli Heavy"/>
              </a:rPr>
              <a:t>Periodic Updates</a:t>
            </a:r>
          </a:p>
          <a:p>
            <a:pPr algn="r">
              <a:lnSpc>
                <a:spcPts val="2424"/>
              </a:lnSpc>
            </a:pPr>
            <a:endParaRPr lang="en-US" sz="2489" b="1" spc="24">
              <a:solidFill>
                <a:srgbClr val="2946BF"/>
              </a:solidFill>
              <a:latin typeface="Muli Heavy"/>
              <a:ea typeface="Muli Heavy"/>
              <a:cs typeface="Muli Heavy"/>
              <a:sym typeface="Muli Heavy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755644" y="7123806"/>
            <a:ext cx="4999214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24"/>
              </a:lnSpc>
            </a:pPr>
            <a:r>
              <a:rPr lang="en-US" sz="2499" b="1" spc="24">
                <a:solidFill>
                  <a:srgbClr val="2946BF"/>
                </a:solidFill>
                <a:latin typeface="Muli Heavy"/>
                <a:ea typeface="Muli Heavy"/>
                <a:cs typeface="Muli Heavy"/>
                <a:sym typeface="Muli Heavy"/>
              </a:rPr>
              <a:t>Broadcasts full routing table every 30 seconds to all RIPv2-enabled neighbors.</a:t>
            </a:r>
          </a:p>
          <a:p>
            <a:pPr algn="r">
              <a:lnSpc>
                <a:spcPts val="2424"/>
              </a:lnSpc>
            </a:pPr>
            <a:endParaRPr lang="en-US" sz="2499" b="1" spc="24">
              <a:solidFill>
                <a:srgbClr val="2946BF"/>
              </a:solidFill>
              <a:latin typeface="Muli Heavy"/>
              <a:ea typeface="Muli Heavy"/>
              <a:cs typeface="Muli Heavy"/>
              <a:sym typeface="Muli Heav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38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3243" y="857595"/>
            <a:ext cx="1452988" cy="607613"/>
          </a:xfrm>
          <a:custGeom>
            <a:avLst/>
            <a:gdLst/>
            <a:ahLst/>
            <a:cxnLst/>
            <a:rect l="l" t="t" r="r" b="b"/>
            <a:pathLst>
              <a:path w="1452988" h="607613">
                <a:moveTo>
                  <a:pt x="0" y="0"/>
                </a:moveTo>
                <a:lnTo>
                  <a:pt x="1452989" y="0"/>
                </a:lnTo>
                <a:lnTo>
                  <a:pt x="1452989" y="607613"/>
                </a:lnTo>
                <a:lnTo>
                  <a:pt x="0" y="607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53322" y="724245"/>
            <a:ext cx="12247364" cy="2415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  <a:spcBef>
                <a:spcPct val="0"/>
              </a:spcBef>
            </a:pPr>
            <a:r>
              <a:rPr lang="en-US" sz="6914">
                <a:solidFill>
                  <a:srgbClr val="CEDEE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CIDR AND RIPV2 COMPATIBILITY</a:t>
            </a:r>
          </a:p>
          <a:p>
            <a:pPr algn="l">
              <a:lnSpc>
                <a:spcPts val="9679"/>
              </a:lnSpc>
              <a:spcBef>
                <a:spcPct val="0"/>
              </a:spcBef>
            </a:pPr>
            <a:endParaRPr lang="en-US" sz="6914">
              <a:solidFill>
                <a:srgbClr val="CEDEE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3853322" y="1983168"/>
            <a:ext cx="7315200" cy="1050729"/>
          </a:xfrm>
          <a:custGeom>
            <a:avLst/>
            <a:gdLst/>
            <a:ahLst/>
            <a:cxnLst/>
            <a:rect l="l" t="t" r="r" b="b"/>
            <a:pathLst>
              <a:path w="7315200" h="1050729">
                <a:moveTo>
                  <a:pt x="0" y="0"/>
                </a:moveTo>
                <a:lnTo>
                  <a:pt x="7315200" y="0"/>
                </a:lnTo>
                <a:lnTo>
                  <a:pt x="7315200" y="1050728"/>
                </a:lnTo>
                <a:lnTo>
                  <a:pt x="0" y="1050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3548246"/>
            <a:ext cx="4971780" cy="5146569"/>
          </a:xfrm>
          <a:custGeom>
            <a:avLst/>
            <a:gdLst/>
            <a:ahLst/>
            <a:cxnLst/>
            <a:rect l="l" t="t" r="r" b="b"/>
            <a:pathLst>
              <a:path w="4971780" h="5146569">
                <a:moveTo>
                  <a:pt x="0" y="0"/>
                </a:moveTo>
                <a:lnTo>
                  <a:pt x="4971780" y="0"/>
                </a:lnTo>
                <a:lnTo>
                  <a:pt x="4971780" y="5146569"/>
                </a:lnTo>
                <a:lnTo>
                  <a:pt x="0" y="51465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850224" y="4058094"/>
            <a:ext cx="1219368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RIPv2's defining advantage over RIPv1 is its inclusion of the subnet mask in every routing update, enabling true classless routing.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50224" y="6043559"/>
            <a:ext cx="12437776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•Same major network can carry multiple subnet sizes simultaneously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•Discontiguous subnets are properly distinguished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•Example: 192.168.0.0/24, 192.168.1.0/25, and 192.168.2.0/26 coexist in one RIPv2 domain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78364" y="9565577"/>
            <a:ext cx="1452988" cy="607613"/>
          </a:xfrm>
          <a:custGeom>
            <a:avLst/>
            <a:gdLst/>
            <a:ahLst/>
            <a:cxnLst/>
            <a:rect l="l" t="t" r="r" b="b"/>
            <a:pathLst>
              <a:path w="1452988" h="607613">
                <a:moveTo>
                  <a:pt x="0" y="0"/>
                </a:moveTo>
                <a:lnTo>
                  <a:pt x="1452989" y="0"/>
                </a:lnTo>
                <a:lnTo>
                  <a:pt x="1452989" y="607613"/>
                </a:lnTo>
                <a:lnTo>
                  <a:pt x="0" y="607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161216"/>
            <a:ext cx="18288000" cy="422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spc="160">
                <a:solidFill>
                  <a:srgbClr val="F6E7D8"/>
                </a:solidFill>
                <a:latin typeface="Archivo Black"/>
                <a:ea typeface="Archivo Black"/>
                <a:cs typeface="Archivo Black"/>
                <a:sym typeface="Archivo Black"/>
              </a:rPr>
              <a:t>NETWORK CONFIGURATION: SINGLE MAJOR NETWORK</a:t>
            </a:r>
          </a:p>
          <a:p>
            <a:pPr algn="ctr">
              <a:lnSpc>
                <a:spcPts val="11200"/>
              </a:lnSpc>
              <a:spcBef>
                <a:spcPct val="0"/>
              </a:spcBef>
            </a:pPr>
            <a:endParaRPr lang="en-US" sz="8000" spc="160">
              <a:solidFill>
                <a:srgbClr val="F6E7D8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4" name="Freeform 4"/>
          <p:cNvSpPr/>
          <p:nvPr/>
        </p:nvSpPr>
        <p:spPr>
          <a:xfrm rot="1220987">
            <a:off x="9296618" y="1080986"/>
            <a:ext cx="1143198" cy="1082921"/>
          </a:xfrm>
          <a:custGeom>
            <a:avLst/>
            <a:gdLst/>
            <a:ahLst/>
            <a:cxnLst/>
            <a:rect l="l" t="t" r="r" b="b"/>
            <a:pathLst>
              <a:path w="1143198" h="1082921">
                <a:moveTo>
                  <a:pt x="0" y="0"/>
                </a:moveTo>
                <a:lnTo>
                  <a:pt x="1143198" y="0"/>
                </a:lnTo>
                <a:lnTo>
                  <a:pt x="1143198" y="1082921"/>
                </a:lnTo>
                <a:lnTo>
                  <a:pt x="0" y="1082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517115" y="3483899"/>
            <a:ext cx="8742185" cy="6081677"/>
          </a:xfrm>
          <a:custGeom>
            <a:avLst/>
            <a:gdLst/>
            <a:ahLst/>
            <a:cxnLst/>
            <a:rect l="l" t="t" r="r" b="b"/>
            <a:pathLst>
              <a:path w="8742185" h="6081677">
                <a:moveTo>
                  <a:pt x="0" y="0"/>
                </a:moveTo>
                <a:lnTo>
                  <a:pt x="8742185" y="0"/>
                </a:lnTo>
                <a:lnTo>
                  <a:pt x="8742185" y="6081678"/>
                </a:lnTo>
                <a:lnTo>
                  <a:pt x="0" y="60816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1873" b="-2187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3369599"/>
            <a:ext cx="338544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spc="120">
                <a:solidFill>
                  <a:srgbClr val="F6E7D8"/>
                </a:solidFill>
                <a:latin typeface="Open Sans"/>
                <a:ea typeface="Open Sans"/>
                <a:cs typeface="Open Sans"/>
                <a:sym typeface="Open Sans"/>
              </a:rPr>
              <a:t>Topology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4016" y="4879975"/>
            <a:ext cx="652502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39">
                <a:solidFill>
                  <a:srgbClr val="FFFAE5"/>
                </a:solidFill>
                <a:latin typeface="Muli Heavy"/>
                <a:ea typeface="Muli Heavy"/>
                <a:cs typeface="Muli Heavy"/>
                <a:sym typeface="Muli Heavy"/>
              </a:rPr>
              <a:t>Major network: 10.0.0.0/8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3530" y="6158044"/>
            <a:ext cx="6585994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24">
                <a:solidFill>
                  <a:srgbClr val="FFFAE5"/>
                </a:solidFill>
                <a:latin typeface="Muli Heavy"/>
                <a:ea typeface="Muli Heavy"/>
                <a:cs typeface="Muli Heavy"/>
                <a:sym typeface="Muli Heavy"/>
              </a:rPr>
              <a:t>Subnet 1: 10.1.0.0/24 — 254 usable hosts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24">
                <a:solidFill>
                  <a:srgbClr val="FFFAE5"/>
                </a:solidFill>
                <a:latin typeface="Muli Heavy"/>
                <a:ea typeface="Muli Heavy"/>
                <a:cs typeface="Muli Heavy"/>
                <a:sym typeface="Muli Heavy"/>
              </a:rPr>
              <a:t>Subnet 2: 10.2.0.0/24 — 254 usable hosts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24">
                <a:solidFill>
                  <a:srgbClr val="FFFAE5"/>
                </a:solidFill>
                <a:latin typeface="Muli Heavy"/>
                <a:ea typeface="Muli Heavy"/>
                <a:cs typeface="Muli Heavy"/>
                <a:sym typeface="Muli Heavy"/>
              </a:rPr>
              <a:t>Subnet 3: 10.3.0.0/25 — 126 usable hosts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0415" y="7869908"/>
            <a:ext cx="7212223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AE5"/>
                </a:solidFill>
                <a:latin typeface="Muli Heavy"/>
                <a:ea typeface="Muli Heavy"/>
                <a:cs typeface="Muli Heavy"/>
                <a:sym typeface="Muli Heavy"/>
              </a:rPr>
              <a:t>RIPv2 advertises each subnet with its specific mask — no manual aggregation required at the subnet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6513755" y="727896"/>
            <a:ext cx="2502141" cy="1046350"/>
          </a:xfrm>
          <a:custGeom>
            <a:avLst/>
            <a:gdLst/>
            <a:ahLst/>
            <a:cxnLst/>
            <a:rect l="l" t="t" r="r" b="b"/>
            <a:pathLst>
              <a:path w="2502141" h="1046350">
                <a:moveTo>
                  <a:pt x="0" y="0"/>
                </a:moveTo>
                <a:lnTo>
                  <a:pt x="2502141" y="0"/>
                </a:lnTo>
                <a:lnTo>
                  <a:pt x="2502141" y="1046349"/>
                </a:lnTo>
                <a:lnTo>
                  <a:pt x="0" y="1046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170338" y="-816701"/>
            <a:ext cx="7546250" cy="3690802"/>
          </a:xfrm>
          <a:custGeom>
            <a:avLst/>
            <a:gdLst/>
            <a:ahLst/>
            <a:cxnLst/>
            <a:rect l="l" t="t" r="r" b="b"/>
            <a:pathLst>
              <a:path w="7546250" h="3690802">
                <a:moveTo>
                  <a:pt x="0" y="0"/>
                </a:moveTo>
                <a:lnTo>
                  <a:pt x="7546250" y="0"/>
                </a:lnTo>
                <a:lnTo>
                  <a:pt x="7546250" y="3690802"/>
                </a:lnTo>
                <a:lnTo>
                  <a:pt x="0" y="3690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4466" y="3080150"/>
            <a:ext cx="7180052" cy="3063922"/>
          </a:xfrm>
          <a:custGeom>
            <a:avLst/>
            <a:gdLst/>
            <a:ahLst/>
            <a:cxnLst/>
            <a:rect l="l" t="t" r="r" b="b"/>
            <a:pathLst>
              <a:path w="7180052" h="3063922">
                <a:moveTo>
                  <a:pt x="0" y="0"/>
                </a:moveTo>
                <a:lnTo>
                  <a:pt x="7180052" y="0"/>
                </a:lnTo>
                <a:lnTo>
                  <a:pt x="7180052" y="3063922"/>
                </a:lnTo>
                <a:lnTo>
                  <a:pt x="0" y="30639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073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170338" y="3080150"/>
            <a:ext cx="7039102" cy="3063922"/>
          </a:xfrm>
          <a:custGeom>
            <a:avLst/>
            <a:gdLst/>
            <a:ahLst/>
            <a:cxnLst/>
            <a:rect l="l" t="t" r="r" b="b"/>
            <a:pathLst>
              <a:path w="7039102" h="3063922">
                <a:moveTo>
                  <a:pt x="0" y="0"/>
                </a:moveTo>
                <a:lnTo>
                  <a:pt x="7039102" y="0"/>
                </a:lnTo>
                <a:lnTo>
                  <a:pt x="7039102" y="3063922"/>
                </a:lnTo>
                <a:lnTo>
                  <a:pt x="0" y="30639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374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4466" y="323971"/>
            <a:ext cx="14360105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NETWORK CONFIGURATION: MULTIPLE MAJOR NETWORKS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4466" y="3289363"/>
            <a:ext cx="7180052" cy="413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NETWORK A — 172.16.0.0/16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4466" y="4159491"/>
            <a:ext cx="6894910" cy="1699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>
                <a:solidFill>
                  <a:srgbClr val="1C191A"/>
                </a:solidFill>
                <a:latin typeface="Open Sauce"/>
                <a:ea typeface="Open Sauce"/>
                <a:cs typeface="Open Sauce"/>
                <a:sym typeface="Open Sauce"/>
              </a:rPr>
              <a:t>•172.16.1.0/24 — STANDARD /24 SUBNET, 254 HOSTS</a:t>
            </a:r>
          </a:p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>
                <a:solidFill>
                  <a:srgbClr val="1C191A"/>
                </a:solidFill>
                <a:latin typeface="Open Sauce"/>
                <a:ea typeface="Open Sauce"/>
                <a:cs typeface="Open Sauce"/>
                <a:sym typeface="Open Sauce"/>
              </a:rPr>
              <a:t>•172.16.2.0/25 — HALF-SIZE SUBNET, 126 HOSTS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32285" y="3289363"/>
            <a:ext cx="7039102" cy="413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NETWORK B — 192.168.0.0/16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70338" y="4159491"/>
            <a:ext cx="7039102" cy="1699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•192.168.1.0/24 — STANDARD /24 SUBNET, 254 HOSTS</a:t>
            </a:r>
          </a:p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•192.168.2.0/26 — QUARTER-SIZE SUBNET, 62 HOSTS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589" y="7410897"/>
            <a:ext cx="14995857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RIPV2 HANDLES BOTH MAJOR NETWORKS INDEPENDENTLY, PROPAGATING EACH SUBNET'S EXACT PREFIX LENGTH WITH FULL CIDR SUPPORT — NO CLASSFUL ASSUMPTIONS MADE.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3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5400000">
            <a:off x="-2097735" y="2517775"/>
            <a:ext cx="9416059" cy="5251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FAE5"/>
                </a:solidFill>
                <a:latin typeface="Anton"/>
                <a:ea typeface="Anton"/>
                <a:cs typeface="Anton"/>
                <a:sym typeface="Anton"/>
              </a:rPr>
              <a:t>ROUTE AGGREGATION WITH CIDR</a:t>
            </a:r>
          </a:p>
          <a:p>
            <a:pPr algn="ctr">
              <a:lnSpc>
                <a:spcPts val="13999"/>
              </a:lnSpc>
              <a:spcBef>
                <a:spcPct val="0"/>
              </a:spcBef>
            </a:pPr>
            <a:endParaRPr lang="en-US" sz="9999">
              <a:solidFill>
                <a:srgbClr val="FFFAE5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6958250" y="0"/>
            <a:ext cx="10303814" cy="10287000"/>
          </a:xfrm>
          <a:custGeom>
            <a:avLst/>
            <a:gdLst/>
            <a:ahLst/>
            <a:cxnLst/>
            <a:rect l="l" t="t" r="r" b="b"/>
            <a:pathLst>
              <a:path w="10303814" h="10287000">
                <a:moveTo>
                  <a:pt x="0" y="0"/>
                </a:moveTo>
                <a:lnTo>
                  <a:pt x="10303815" y="0"/>
                </a:lnTo>
                <a:lnTo>
                  <a:pt x="1030381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909572" y="-207640"/>
            <a:ext cx="9248882" cy="10861064"/>
            <a:chOff x="0" y="0"/>
            <a:chExt cx="2435919" cy="2860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5920" cy="2860527"/>
            </a:xfrm>
            <a:custGeom>
              <a:avLst/>
              <a:gdLst/>
              <a:ahLst/>
              <a:cxnLst/>
              <a:rect l="l" t="t" r="r" b="b"/>
              <a:pathLst>
                <a:path w="2435920" h="2860527">
                  <a:moveTo>
                    <a:pt x="0" y="0"/>
                  </a:moveTo>
                  <a:lnTo>
                    <a:pt x="2435920" y="0"/>
                  </a:lnTo>
                  <a:lnTo>
                    <a:pt x="2435920" y="2860527"/>
                  </a:lnTo>
                  <a:lnTo>
                    <a:pt x="0" y="286052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435919" cy="290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909572" y="9679387"/>
            <a:ext cx="1452988" cy="607613"/>
          </a:xfrm>
          <a:custGeom>
            <a:avLst/>
            <a:gdLst/>
            <a:ahLst/>
            <a:cxnLst/>
            <a:rect l="l" t="t" r="r" b="b"/>
            <a:pathLst>
              <a:path w="1452988" h="607613">
                <a:moveTo>
                  <a:pt x="0" y="0"/>
                </a:moveTo>
                <a:lnTo>
                  <a:pt x="1452989" y="0"/>
                </a:lnTo>
                <a:lnTo>
                  <a:pt x="1452989" y="607613"/>
                </a:lnTo>
                <a:lnTo>
                  <a:pt x="0" y="60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955709" y="6514658"/>
            <a:ext cx="3756148" cy="491714"/>
          </a:xfrm>
          <a:custGeom>
            <a:avLst/>
            <a:gdLst/>
            <a:ahLst/>
            <a:cxnLst/>
            <a:rect l="l" t="t" r="r" b="b"/>
            <a:pathLst>
              <a:path w="3756148" h="491714">
                <a:moveTo>
                  <a:pt x="0" y="0"/>
                </a:moveTo>
                <a:lnTo>
                  <a:pt x="3756149" y="0"/>
                </a:lnTo>
                <a:lnTo>
                  <a:pt x="3756149" y="491714"/>
                </a:lnTo>
                <a:lnTo>
                  <a:pt x="0" y="4917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977550" y="7006372"/>
            <a:ext cx="5468616" cy="3036380"/>
          </a:xfrm>
          <a:custGeom>
            <a:avLst/>
            <a:gdLst/>
            <a:ahLst/>
            <a:cxnLst/>
            <a:rect l="l" t="t" r="r" b="b"/>
            <a:pathLst>
              <a:path w="5468616" h="3036380">
                <a:moveTo>
                  <a:pt x="0" y="0"/>
                </a:moveTo>
                <a:lnTo>
                  <a:pt x="5468615" y="0"/>
                </a:lnTo>
                <a:lnTo>
                  <a:pt x="5468615" y="3036380"/>
                </a:lnTo>
                <a:lnTo>
                  <a:pt x="0" y="30363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82017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911799" y="1661188"/>
            <a:ext cx="5422732" cy="5755204"/>
          </a:xfrm>
          <a:custGeom>
            <a:avLst/>
            <a:gdLst/>
            <a:ahLst/>
            <a:cxnLst/>
            <a:rect l="l" t="t" r="r" b="b"/>
            <a:pathLst>
              <a:path w="5422732" h="5755204">
                <a:moveTo>
                  <a:pt x="0" y="0"/>
                </a:moveTo>
                <a:lnTo>
                  <a:pt x="5422733" y="0"/>
                </a:lnTo>
                <a:lnTo>
                  <a:pt x="5422733" y="5755204"/>
                </a:lnTo>
                <a:lnTo>
                  <a:pt x="0" y="57552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22253" y="7257698"/>
            <a:ext cx="620388" cy="496311"/>
          </a:xfrm>
          <a:custGeom>
            <a:avLst/>
            <a:gdLst/>
            <a:ahLst/>
            <a:cxnLst/>
            <a:rect l="l" t="t" r="r" b="b"/>
            <a:pathLst>
              <a:path w="620388" h="496311">
                <a:moveTo>
                  <a:pt x="0" y="0"/>
                </a:moveTo>
                <a:lnTo>
                  <a:pt x="620388" y="0"/>
                </a:lnTo>
                <a:lnTo>
                  <a:pt x="620388" y="496310"/>
                </a:lnTo>
                <a:lnTo>
                  <a:pt x="0" y="4963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32900" y="455054"/>
            <a:ext cx="9002227" cy="1271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MANUAL SUMMARIZATION IS A POWERFUL TOOL FOR REDUCING ROUTING TABLE SIZE AND CUTTING UNNECESSARY UPDATE TRAFFIC ACROSS THE NETWORK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96693" y="3459290"/>
            <a:ext cx="8874641" cy="2557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5"/>
              </a:lnSpc>
              <a:spcBef>
                <a:spcPct val="0"/>
              </a:spcBef>
            </a:pPr>
            <a:r>
              <a:rPr lang="en-US" sz="24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•10.1.0.0/24 + 10.2.0.0/24 + 10.3.0.0/24 + 10.4.0.0/24 → SUMMARIZE AS 10.0.0.0/22</a:t>
            </a:r>
          </a:p>
          <a:p>
            <a:pPr algn="ctr">
              <a:lnSpc>
                <a:spcPts val="3415"/>
              </a:lnSpc>
              <a:spcBef>
                <a:spcPct val="0"/>
              </a:spcBef>
            </a:pPr>
            <a:r>
              <a:rPr lang="en-US" sz="24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•ADVERTISE THE SUMMARY ROUTE INSTEAD OF INDIVIDUAL /24 ENTRIES</a:t>
            </a:r>
          </a:p>
          <a:p>
            <a:pPr algn="ctr">
              <a:lnSpc>
                <a:spcPts val="3415"/>
              </a:lnSpc>
              <a:spcBef>
                <a:spcPct val="0"/>
              </a:spcBef>
            </a:pPr>
            <a:r>
              <a:rPr lang="en-US" sz="24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•REDUCES CONVERGENCE OVERHEAD AND TABLE BLOAT AT BOUNDARY ROUTERS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76834" y="1312304"/>
            <a:ext cx="1718965" cy="413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10.0.0.0/22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00537" y="6712890"/>
            <a:ext cx="4023922" cy="842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10.1/24 • 10.2/24 • 10.3/24 • 10.4/24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27891" y="7706383"/>
            <a:ext cx="5167933" cy="2128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ALWAYS VERIFY THAT SUMMARIZED BLOCKS DON'T ACCIDENTALLY INCLUDE UNINTENDED SUBNETS BEFORE ADVERTISING.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23581" y="0"/>
            <a:ext cx="12264419" cy="10445947"/>
            <a:chOff x="0" y="0"/>
            <a:chExt cx="3230135" cy="27511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30135" cy="2751196"/>
            </a:xfrm>
            <a:custGeom>
              <a:avLst/>
              <a:gdLst/>
              <a:ahLst/>
              <a:cxnLst/>
              <a:rect l="l" t="t" r="r" b="b"/>
              <a:pathLst>
                <a:path w="3230135" h="2751196">
                  <a:moveTo>
                    <a:pt x="0" y="0"/>
                  </a:moveTo>
                  <a:lnTo>
                    <a:pt x="3230135" y="0"/>
                  </a:lnTo>
                  <a:lnTo>
                    <a:pt x="3230135" y="2751196"/>
                  </a:lnTo>
                  <a:lnTo>
                    <a:pt x="0" y="2751196"/>
                  </a:lnTo>
                  <a:close/>
                </a:path>
              </a:pathLst>
            </a:custGeom>
            <a:solidFill>
              <a:srgbClr val="D7DF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230135" cy="2798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" y="0"/>
            <a:ext cx="6023581" cy="10445947"/>
            <a:chOff x="0" y="0"/>
            <a:chExt cx="2035482" cy="32507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5482" cy="3250743"/>
            </a:xfrm>
            <a:custGeom>
              <a:avLst/>
              <a:gdLst/>
              <a:ahLst/>
              <a:cxnLst/>
              <a:rect l="l" t="t" r="r" b="b"/>
              <a:pathLst>
                <a:path w="2035482" h="3250743">
                  <a:moveTo>
                    <a:pt x="0" y="0"/>
                  </a:moveTo>
                  <a:lnTo>
                    <a:pt x="2035482" y="0"/>
                  </a:lnTo>
                  <a:lnTo>
                    <a:pt x="2035482" y="3250743"/>
                  </a:lnTo>
                  <a:lnTo>
                    <a:pt x="0" y="3250743"/>
                  </a:lnTo>
                  <a:close/>
                </a:path>
              </a:pathLst>
            </a:custGeom>
            <a:blipFill>
              <a:blip r:embed="rId2"/>
              <a:stretch>
                <a:fillRect l="-9888" r="-988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33243" y="857595"/>
            <a:ext cx="1452988" cy="607613"/>
          </a:xfrm>
          <a:custGeom>
            <a:avLst/>
            <a:gdLst/>
            <a:ahLst/>
            <a:cxnLst/>
            <a:rect l="l" t="t" r="r" b="b"/>
            <a:pathLst>
              <a:path w="1452988" h="607613">
                <a:moveTo>
                  <a:pt x="0" y="0"/>
                </a:moveTo>
                <a:lnTo>
                  <a:pt x="1452989" y="0"/>
                </a:lnTo>
                <a:lnTo>
                  <a:pt x="1452989" y="607613"/>
                </a:lnTo>
                <a:lnTo>
                  <a:pt x="0" y="607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542499" y="3885875"/>
            <a:ext cx="3203001" cy="460067"/>
          </a:xfrm>
          <a:custGeom>
            <a:avLst/>
            <a:gdLst/>
            <a:ahLst/>
            <a:cxnLst/>
            <a:rect l="l" t="t" r="r" b="b"/>
            <a:pathLst>
              <a:path w="3203001" h="460067">
                <a:moveTo>
                  <a:pt x="0" y="0"/>
                </a:moveTo>
                <a:lnTo>
                  <a:pt x="3203002" y="0"/>
                </a:lnTo>
                <a:lnTo>
                  <a:pt x="3203002" y="460067"/>
                </a:lnTo>
                <a:lnTo>
                  <a:pt x="0" y="4600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138766" y="3776208"/>
            <a:ext cx="3203001" cy="460067"/>
          </a:xfrm>
          <a:custGeom>
            <a:avLst/>
            <a:gdLst/>
            <a:ahLst/>
            <a:cxnLst/>
            <a:rect l="l" t="t" r="r" b="b"/>
            <a:pathLst>
              <a:path w="3203001" h="460067">
                <a:moveTo>
                  <a:pt x="0" y="0"/>
                </a:moveTo>
                <a:lnTo>
                  <a:pt x="3203001" y="0"/>
                </a:lnTo>
                <a:lnTo>
                  <a:pt x="3203001" y="460067"/>
                </a:lnTo>
                <a:lnTo>
                  <a:pt x="0" y="4600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489852" y="8233156"/>
            <a:ext cx="3203001" cy="460067"/>
          </a:xfrm>
          <a:custGeom>
            <a:avLst/>
            <a:gdLst/>
            <a:ahLst/>
            <a:cxnLst/>
            <a:rect l="l" t="t" r="r" b="b"/>
            <a:pathLst>
              <a:path w="3203001" h="460067">
                <a:moveTo>
                  <a:pt x="0" y="0"/>
                </a:moveTo>
                <a:lnTo>
                  <a:pt x="3203001" y="0"/>
                </a:lnTo>
                <a:lnTo>
                  <a:pt x="3203001" y="460067"/>
                </a:lnTo>
                <a:lnTo>
                  <a:pt x="0" y="4600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571315" y="95196"/>
            <a:ext cx="7168951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Metric Calculation Across CIDR Blocks</a:t>
            </a:r>
          </a:p>
          <a:p>
            <a:pPr algn="ctr">
              <a:lnSpc>
                <a:spcPts val="7000"/>
              </a:lnSpc>
            </a:pPr>
            <a:endParaRPr lang="en-US" sz="5000">
              <a:solidFill>
                <a:srgbClr val="FFFFFF"/>
              </a:solidFill>
              <a:latin typeface="Gagalin"/>
              <a:ea typeface="Gagalin"/>
              <a:cs typeface="Gagalin"/>
              <a:sym typeface="Gagali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201519" y="4388934"/>
            <a:ext cx="5970543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spc="84">
                <a:solidFill>
                  <a:srgbClr val="FFFFFF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Routes beyond 15 hops are marked unreachable (metric = 16)</a:t>
            </a:r>
          </a:p>
          <a:p>
            <a:pPr algn="ctr">
              <a:lnSpc>
                <a:spcPts val="4759"/>
              </a:lnSpc>
            </a:pPr>
            <a:endParaRPr lang="en-US" sz="3399" b="1" spc="84">
              <a:solidFill>
                <a:srgbClr val="FFFFFF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00622" y="2246258"/>
            <a:ext cx="972337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98147" y="3362222"/>
            <a:ext cx="2691705" cy="413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MAX HOP COUNT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603096" y="2246258"/>
            <a:ext cx="27434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15808" y="3362222"/>
            <a:ext cx="1848192" cy="399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HOP COST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50000" y="4611910"/>
            <a:ext cx="5730433" cy="1271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BOTH 10.1.0.0/24 AND 10.1.0.0/25 COST EXACTLY 1 HOP FROM SOURCE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62512" y="6664774"/>
            <a:ext cx="41910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01863" y="7826496"/>
            <a:ext cx="2966537" cy="399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CIDR INFLUENCE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38970" y="8846876"/>
            <a:ext cx="6222060" cy="1271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sz="2451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SUBNET MASK SIZE HAS ZERO EFFECT ON THE METRIC — ONLY REACHABILITY MATTERS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87B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3243" y="857595"/>
            <a:ext cx="1452988" cy="607613"/>
          </a:xfrm>
          <a:custGeom>
            <a:avLst/>
            <a:gdLst/>
            <a:ahLst/>
            <a:cxnLst/>
            <a:rect l="l" t="t" r="r" b="b"/>
            <a:pathLst>
              <a:path w="1452988" h="607613">
                <a:moveTo>
                  <a:pt x="0" y="0"/>
                </a:moveTo>
                <a:lnTo>
                  <a:pt x="1452989" y="0"/>
                </a:lnTo>
                <a:lnTo>
                  <a:pt x="1452989" y="607613"/>
                </a:lnTo>
                <a:lnTo>
                  <a:pt x="0" y="607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5611" y="3705653"/>
            <a:ext cx="8568361" cy="3913095"/>
          </a:xfrm>
          <a:custGeom>
            <a:avLst/>
            <a:gdLst/>
            <a:ahLst/>
            <a:cxnLst/>
            <a:rect l="l" t="t" r="r" b="b"/>
            <a:pathLst>
              <a:path w="8568361" h="3913095">
                <a:moveTo>
                  <a:pt x="0" y="0"/>
                </a:moveTo>
                <a:lnTo>
                  <a:pt x="8568361" y="0"/>
                </a:lnTo>
                <a:lnTo>
                  <a:pt x="8568361" y="3913095"/>
                </a:lnTo>
                <a:lnTo>
                  <a:pt x="0" y="3913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563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804534" y="3703253"/>
            <a:ext cx="7985026" cy="3917894"/>
          </a:xfrm>
          <a:custGeom>
            <a:avLst/>
            <a:gdLst/>
            <a:ahLst/>
            <a:cxnLst/>
            <a:rect l="l" t="t" r="r" b="b"/>
            <a:pathLst>
              <a:path w="7985026" h="3917894">
                <a:moveTo>
                  <a:pt x="0" y="0"/>
                </a:moveTo>
                <a:lnTo>
                  <a:pt x="7985026" y="0"/>
                </a:lnTo>
                <a:lnTo>
                  <a:pt x="7985026" y="3917895"/>
                </a:lnTo>
                <a:lnTo>
                  <a:pt x="0" y="39178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3477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042424" y="677214"/>
            <a:ext cx="1311850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00">
                <a:solidFill>
                  <a:srgbClr val="FFFFFF"/>
                </a:solidFill>
                <a:latin typeface="Suranna"/>
                <a:ea typeface="Suranna"/>
                <a:cs typeface="Suranna"/>
                <a:sym typeface="Suranna"/>
              </a:rPr>
              <a:t>CONFIGURATION EXAMPLE: ROUTER SETUP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59737" y="2565224"/>
            <a:ext cx="257482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ROUTER 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20814" y="2565224"/>
            <a:ext cx="257274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ROUTER 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300125"/>
            <a:ext cx="9810539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ROUTER RIP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VERSION 2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NETWORK 10.0.0.0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NETWORK 172.16.0.0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NO AUTO-SUMMARY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46070" y="4300125"/>
            <a:ext cx="6501954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ROUTER RIP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VERSION 2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NETWORK 10.0.0.0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NETWORK 192.168.0.0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NO AUTO-SUMMARY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8672" y="8011673"/>
            <a:ext cx="16230600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RIPV2 AUTOMATICALLY INCLUDES ALL SUBNETS WITHIN EACH DECLARED NETWORK. THE NO AUTO-SUMMARY COMMAND IS CRITICAL — IT PREVENTS CLASSFUL AGGREGATION AND ENSURES ALL CIDR PREFIXES ARE ADVERTISED WITH THEIR CORRECT SUBNET MASKS.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3243" y="857595"/>
            <a:ext cx="1452988" cy="607613"/>
          </a:xfrm>
          <a:custGeom>
            <a:avLst/>
            <a:gdLst/>
            <a:ahLst/>
            <a:cxnLst/>
            <a:rect l="l" t="t" r="r" b="b"/>
            <a:pathLst>
              <a:path w="1452988" h="607613">
                <a:moveTo>
                  <a:pt x="0" y="0"/>
                </a:moveTo>
                <a:lnTo>
                  <a:pt x="1452989" y="0"/>
                </a:lnTo>
                <a:lnTo>
                  <a:pt x="1452989" y="607613"/>
                </a:lnTo>
                <a:lnTo>
                  <a:pt x="0" y="607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34647" y="3368768"/>
            <a:ext cx="5225613" cy="5837847"/>
          </a:xfrm>
          <a:custGeom>
            <a:avLst/>
            <a:gdLst/>
            <a:ahLst/>
            <a:cxnLst/>
            <a:rect l="l" t="t" r="r" b="b"/>
            <a:pathLst>
              <a:path w="5225613" h="5837847">
                <a:moveTo>
                  <a:pt x="0" y="0"/>
                </a:moveTo>
                <a:lnTo>
                  <a:pt x="5225613" y="0"/>
                </a:lnTo>
                <a:lnTo>
                  <a:pt x="5225613" y="5837847"/>
                </a:lnTo>
                <a:lnTo>
                  <a:pt x="0" y="5837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80" r="-1840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54072" y="3368768"/>
            <a:ext cx="5471392" cy="5837847"/>
          </a:xfrm>
          <a:custGeom>
            <a:avLst/>
            <a:gdLst/>
            <a:ahLst/>
            <a:cxnLst/>
            <a:rect l="l" t="t" r="r" b="b"/>
            <a:pathLst>
              <a:path w="5471392" h="5837847">
                <a:moveTo>
                  <a:pt x="0" y="0"/>
                </a:moveTo>
                <a:lnTo>
                  <a:pt x="5471392" y="0"/>
                </a:lnTo>
                <a:lnTo>
                  <a:pt x="5471392" y="5837847"/>
                </a:lnTo>
                <a:lnTo>
                  <a:pt x="0" y="5837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91" r="-1447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516014" y="3368768"/>
            <a:ext cx="5286687" cy="5837847"/>
          </a:xfrm>
          <a:custGeom>
            <a:avLst/>
            <a:gdLst/>
            <a:ahLst/>
            <a:cxnLst/>
            <a:rect l="l" t="t" r="r" b="b"/>
            <a:pathLst>
              <a:path w="5286687" h="5837847">
                <a:moveTo>
                  <a:pt x="0" y="0"/>
                </a:moveTo>
                <a:lnTo>
                  <a:pt x="5286686" y="0"/>
                </a:lnTo>
                <a:lnTo>
                  <a:pt x="5286686" y="5837847"/>
                </a:lnTo>
                <a:lnTo>
                  <a:pt x="0" y="5837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69" r="-1721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670162" y="391465"/>
            <a:ext cx="9788228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COMMON PITFALLS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57032" y="3498118"/>
            <a:ext cx="27434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6830" y="3498118"/>
            <a:ext cx="27434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53416" y="3498118"/>
            <a:ext cx="27434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746" y="4638675"/>
            <a:ext cx="4983423" cy="445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OVERLAPPING CIDR BLOCKS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746" y="5370195"/>
            <a:ext cx="4983423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OVERLAPPING SUBNETS CAUSE ROUTING LOOPS AND BLACK HOLES. AUDIT YOUR ADDRESS PLAN CAREFULLY — ENSURE EVERY SUBNET IS UNIQUE AND NON-OVERLAPPING ACROSS ALL MAJOR NETWORKS.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11065" y="4653915"/>
            <a:ext cx="5157406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MISSING NETWORK STATEMENTS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87785" y="5808345"/>
            <a:ext cx="4586770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ANY SUBNET NOT COVERED BY A NETWORK STATEMENT WILL NOT BE ADVERTISED. ENGINEERS OFTEN FORGET SECONDARY OR LOOPBACK SUBNETS, CAUSING SILENT REACHABILITY FAILURES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47243" y="4722129"/>
            <a:ext cx="5286687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DISCONTIGUOUS NETWORKS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98052" y="5808345"/>
            <a:ext cx="5235877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RIPV2 AUTO-SUMMARIZES AT MAJOR NETWORK BOUNDARIES UNLESS NO AUTO-SUMMARY IS CONFIGURED. DISCONTIGUOUS NETWORKS WILL SILENTLY MERGE ROUTES, BREAKING VLSM DESIGNS.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3075" y="355405"/>
            <a:ext cx="8029339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WHEN TO USE RIPV2 WITH CIDR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3075" y="2800949"/>
            <a:ext cx="11019494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RIPV2 REMAINS A VALID CHOICE IN THE RIGHT CONTEXT. KNOW ITS BOUNDARIES BEFORE COMMITTING TO A DEPLOYMENT.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3075" y="5086949"/>
            <a:ext cx="12697642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•SMALL TO MEDIUM NETWORKS (≤15 HOPS) WITH FLEXIBLE SUBNET REQUIREMENTS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•LEGACY ENVIRONMENTS WHERE RIPV2 IS ALREADY OPERATIONAL AND MIGRATION COST IS HIGH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•FOR NETWORKS EXCEEDING 15 HOPS OR REQUIRING FAST CONVERGENCE, EVALUATE OSPF OR BGP INSTEAD</a:t>
            </a: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21C854DD-B7B2-4A64-B9D6-C4C070B52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0"/>
            <a:ext cx="6400800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2527" y="2052161"/>
            <a:ext cx="15008765" cy="8234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98"/>
              </a:lnSpc>
            </a:pPr>
            <a:r>
              <a:rPr lang="en-US" sz="34942" spc="-594">
                <a:solidFill>
                  <a:srgbClr val="F6E7D8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22910" y="633744"/>
            <a:ext cx="10303814" cy="10287000"/>
          </a:xfrm>
          <a:custGeom>
            <a:avLst/>
            <a:gdLst/>
            <a:ahLst/>
            <a:cxnLst/>
            <a:rect l="l" t="t" r="r" b="b"/>
            <a:pathLst>
              <a:path w="10303814" h="10287000">
                <a:moveTo>
                  <a:pt x="0" y="0"/>
                </a:moveTo>
                <a:lnTo>
                  <a:pt x="10303814" y="0"/>
                </a:lnTo>
                <a:lnTo>
                  <a:pt x="103038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326724" y="633744"/>
            <a:ext cx="10303814" cy="10287000"/>
          </a:xfrm>
          <a:custGeom>
            <a:avLst/>
            <a:gdLst/>
            <a:ahLst/>
            <a:cxnLst/>
            <a:rect l="l" t="t" r="r" b="b"/>
            <a:pathLst>
              <a:path w="10303814" h="10287000">
                <a:moveTo>
                  <a:pt x="10303815" y="0"/>
                </a:moveTo>
                <a:lnTo>
                  <a:pt x="0" y="0"/>
                </a:lnTo>
                <a:lnTo>
                  <a:pt x="0" y="10287000"/>
                </a:lnTo>
                <a:lnTo>
                  <a:pt x="10303815" y="10287000"/>
                </a:lnTo>
                <a:lnTo>
                  <a:pt x="10303815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97586" y="1145474"/>
            <a:ext cx="24181599" cy="17651802"/>
          </a:xfrm>
          <a:custGeom>
            <a:avLst/>
            <a:gdLst/>
            <a:ahLst/>
            <a:cxnLst/>
            <a:rect l="l" t="t" r="r" b="b"/>
            <a:pathLst>
              <a:path w="24181599" h="17651802">
                <a:moveTo>
                  <a:pt x="0" y="0"/>
                </a:moveTo>
                <a:lnTo>
                  <a:pt x="24181599" y="0"/>
                </a:lnTo>
                <a:lnTo>
                  <a:pt x="24181599" y="17651802"/>
                </a:lnTo>
                <a:lnTo>
                  <a:pt x="0" y="17651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9006781" y="-280676"/>
            <a:ext cx="24181599" cy="17651802"/>
          </a:xfrm>
          <a:custGeom>
            <a:avLst/>
            <a:gdLst/>
            <a:ahLst/>
            <a:cxnLst/>
            <a:rect l="l" t="t" r="r" b="b"/>
            <a:pathLst>
              <a:path w="24181599" h="17651802">
                <a:moveTo>
                  <a:pt x="0" y="0"/>
                </a:moveTo>
                <a:lnTo>
                  <a:pt x="24181598" y="0"/>
                </a:lnTo>
                <a:lnTo>
                  <a:pt x="24181598" y="17651802"/>
                </a:lnTo>
                <a:lnTo>
                  <a:pt x="0" y="17651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769875" y="2398841"/>
            <a:ext cx="8794070" cy="1809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12"/>
              </a:lnSpc>
              <a:spcBef>
                <a:spcPct val="0"/>
              </a:spcBef>
            </a:pPr>
            <a:r>
              <a:rPr lang="en-US" sz="10509">
                <a:solidFill>
                  <a:srgbClr val="F14902"/>
                </a:solidFill>
                <a:latin typeface="Amsterdam Four"/>
                <a:ea typeface="Amsterdam Four"/>
                <a:cs typeface="Amsterdam Four"/>
                <a:sym typeface="Amsterdam Four"/>
              </a:rPr>
              <a:t>For your attention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6878123" y="9141734"/>
            <a:ext cx="6337537" cy="829641"/>
          </a:xfrm>
          <a:custGeom>
            <a:avLst/>
            <a:gdLst/>
            <a:ahLst/>
            <a:cxnLst/>
            <a:rect l="l" t="t" r="r" b="b"/>
            <a:pathLst>
              <a:path w="6337537" h="829641">
                <a:moveTo>
                  <a:pt x="0" y="0"/>
                </a:moveTo>
                <a:lnTo>
                  <a:pt x="6337537" y="0"/>
                </a:lnTo>
                <a:lnTo>
                  <a:pt x="6337537" y="829641"/>
                </a:lnTo>
                <a:lnTo>
                  <a:pt x="0" y="8296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084068" y="544628"/>
            <a:ext cx="2119864" cy="576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4042" dirty="0">
                <a:solidFill>
                  <a:srgbClr val="F6E7D8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616</Words>
  <Application>Microsoft Office PowerPoint</Application>
  <PresentationFormat>Custom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9" baseType="lpstr">
      <vt:lpstr>Archivo Black</vt:lpstr>
      <vt:lpstr>Caveat Bold</vt:lpstr>
      <vt:lpstr>HK Grotesk</vt:lpstr>
      <vt:lpstr>Gagalin</vt:lpstr>
      <vt:lpstr>Fredoka</vt:lpstr>
      <vt:lpstr>Amsterdam Four</vt:lpstr>
      <vt:lpstr>Canva Sans Bold</vt:lpstr>
      <vt:lpstr>Anton</vt:lpstr>
      <vt:lpstr>Varela Round</vt:lpstr>
      <vt:lpstr>Arial</vt:lpstr>
      <vt:lpstr>Calibri</vt:lpstr>
      <vt:lpstr>Open Sauce</vt:lpstr>
      <vt:lpstr>Open Sans</vt:lpstr>
      <vt:lpstr>Quicksand Medium</vt:lpstr>
      <vt:lpstr>Glacial Indifference</vt:lpstr>
      <vt:lpstr>Suranna</vt:lpstr>
      <vt:lpstr>Muli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and Black Bold Grunge Digital Marketing Presentation</dc:title>
  <cp:lastModifiedBy>BALAJI</cp:lastModifiedBy>
  <cp:revision>2</cp:revision>
  <dcterms:created xsi:type="dcterms:W3CDTF">2006-08-16T00:00:00Z</dcterms:created>
  <dcterms:modified xsi:type="dcterms:W3CDTF">2026-08-18T17:55:48Z</dcterms:modified>
  <dc:identifier>DAHSn9UYy3M</dc:identifier>
</cp:coreProperties>
</file>